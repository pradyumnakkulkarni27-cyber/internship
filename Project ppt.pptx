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57" r:id="rId4"/>
    <p:sldId id="258" r:id="rId5"/>
    <p:sldId id="275" r:id="rId6"/>
    <p:sldId id="259" r:id="rId7"/>
    <p:sldId id="269" r:id="rId8"/>
    <p:sldId id="272" r:id="rId9"/>
    <p:sldId id="271" r:id="rId10"/>
    <p:sldId id="268" r:id="rId11"/>
    <p:sldId id="273" r:id="rId12"/>
    <p:sldId id="277" r:id="rId13"/>
    <p:sldId id="278" r:id="rId14"/>
    <p:sldId id="270" r:id="rId15"/>
    <p:sldId id="262" r:id="rId16"/>
    <p:sldId id="276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69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7F35D2-B972-43DE-A6B3-C0E93A4EF23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606CD97-2424-44AF-A207-7BDF66356C3F}">
      <dgm:prSet phldrT="[Text]" phldr="0"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Takt time</a:t>
          </a:r>
        </a:p>
      </dgm:t>
    </dgm:pt>
    <dgm:pt modelId="{B3228F5A-5D29-4C20-8175-8849D4FD1D9C}" type="parTrans" cxnId="{5B88DD7A-A48A-4FA0-95C5-88763D11652A}">
      <dgm:prSet/>
      <dgm:spPr/>
      <dgm:t>
        <a:bodyPr/>
        <a:lstStyle/>
        <a:p>
          <a:endParaRPr lang="en-IN"/>
        </a:p>
      </dgm:t>
    </dgm:pt>
    <dgm:pt modelId="{6999196C-C280-426E-A109-98F23FCD58C0}" type="sibTrans" cxnId="{5B88DD7A-A48A-4FA0-95C5-88763D11652A}">
      <dgm:prSet/>
      <dgm:spPr/>
      <dgm:t>
        <a:bodyPr/>
        <a:lstStyle/>
        <a:p>
          <a:endParaRPr lang="en-IN"/>
        </a:p>
      </dgm:t>
    </dgm:pt>
    <dgm:pt modelId="{A3C6E20D-FE1D-427F-8109-8E427A75AD92}">
      <dgm:prSet phldrT="[Text]" phldr="0"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Customer Takt</a:t>
          </a:r>
        </a:p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(The time, Customer expects part to be made)</a:t>
          </a:r>
        </a:p>
      </dgm:t>
    </dgm:pt>
    <dgm:pt modelId="{7D4A31B8-E172-4E02-8274-7911E3C5689B}" type="parTrans" cxnId="{C12D7727-5DA0-47E1-84F0-8412EACF43A5}">
      <dgm:prSet/>
      <dgm:spPr/>
      <dgm:t>
        <a:bodyPr/>
        <a:lstStyle/>
        <a:p>
          <a:endParaRPr lang="en-IN"/>
        </a:p>
      </dgm:t>
    </dgm:pt>
    <dgm:pt modelId="{04E7C547-6A40-4515-8EF4-10B00CF60A22}" type="sibTrans" cxnId="{C12D7727-5DA0-47E1-84F0-8412EACF43A5}">
      <dgm:prSet/>
      <dgm:spPr/>
      <dgm:t>
        <a:bodyPr/>
        <a:lstStyle/>
        <a:p>
          <a:endParaRPr lang="en-IN"/>
        </a:p>
      </dgm:t>
    </dgm:pt>
    <dgm:pt modelId="{5A2E0A7A-0444-4BE0-BFBA-EC1D77C2112A}">
      <dgm:prSet phldrT="[Text]" phldr="0"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Actual Takt</a:t>
          </a:r>
          <a:r>
            <a:rPr lang="en-IN" sz="29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(The time which is taken by machine for manufacturing the part)</a:t>
          </a:r>
        </a:p>
      </dgm:t>
    </dgm:pt>
    <dgm:pt modelId="{B3D8FEE3-5871-4327-A41C-F42CB72D091A}" type="parTrans" cxnId="{8B8AA193-E80A-4ABC-BAE4-19E72BD25E78}">
      <dgm:prSet/>
      <dgm:spPr/>
      <dgm:t>
        <a:bodyPr/>
        <a:lstStyle/>
        <a:p>
          <a:endParaRPr lang="en-IN"/>
        </a:p>
      </dgm:t>
    </dgm:pt>
    <dgm:pt modelId="{2CA4E16C-3F93-43DA-94CD-81471F2236D9}" type="sibTrans" cxnId="{8B8AA193-E80A-4ABC-BAE4-19E72BD25E78}">
      <dgm:prSet/>
      <dgm:spPr/>
      <dgm:t>
        <a:bodyPr/>
        <a:lstStyle/>
        <a:p>
          <a:endParaRPr lang="en-IN"/>
        </a:p>
      </dgm:t>
    </dgm:pt>
    <dgm:pt modelId="{D73CD76A-608E-4777-ABF9-95F3FAC4C929}" type="pres">
      <dgm:prSet presAssocID="{907F35D2-B972-43DE-A6B3-C0E93A4EF23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DB1209C-F6C5-4B68-B291-16DD54D9E3EC}" type="pres">
      <dgm:prSet presAssocID="{3606CD97-2424-44AF-A207-7BDF66356C3F}" presName="hierRoot1" presStyleCnt="0">
        <dgm:presLayoutVars>
          <dgm:hierBranch val="init"/>
        </dgm:presLayoutVars>
      </dgm:prSet>
      <dgm:spPr/>
    </dgm:pt>
    <dgm:pt modelId="{7B40783D-50B0-41C7-964E-3DE58BCF1695}" type="pres">
      <dgm:prSet presAssocID="{3606CD97-2424-44AF-A207-7BDF66356C3F}" presName="rootComposite1" presStyleCnt="0"/>
      <dgm:spPr/>
    </dgm:pt>
    <dgm:pt modelId="{4A16BCC4-0B1D-4785-A10B-3291A58C4C85}" type="pres">
      <dgm:prSet presAssocID="{3606CD97-2424-44AF-A207-7BDF66356C3F}" presName="rootText1" presStyleLbl="node0" presStyleIdx="0" presStyleCnt="1" custScaleX="85552" custScaleY="42460">
        <dgm:presLayoutVars>
          <dgm:chPref val="3"/>
        </dgm:presLayoutVars>
      </dgm:prSet>
      <dgm:spPr/>
    </dgm:pt>
    <dgm:pt modelId="{854B9EB1-FF97-453F-A8E0-3AA66AE23F19}" type="pres">
      <dgm:prSet presAssocID="{3606CD97-2424-44AF-A207-7BDF66356C3F}" presName="rootConnector1" presStyleLbl="node1" presStyleIdx="0" presStyleCnt="0"/>
      <dgm:spPr/>
    </dgm:pt>
    <dgm:pt modelId="{3905923F-13C4-4305-BAFA-AED642F298FD}" type="pres">
      <dgm:prSet presAssocID="{3606CD97-2424-44AF-A207-7BDF66356C3F}" presName="hierChild2" presStyleCnt="0"/>
      <dgm:spPr/>
    </dgm:pt>
    <dgm:pt modelId="{A0A9BAA4-D14F-4DAE-B989-856399EF9638}" type="pres">
      <dgm:prSet presAssocID="{7D4A31B8-E172-4E02-8274-7911E3C5689B}" presName="Name37" presStyleLbl="parChTrans1D2" presStyleIdx="0" presStyleCnt="2"/>
      <dgm:spPr/>
    </dgm:pt>
    <dgm:pt modelId="{DB10A84B-CA08-453D-B20A-8B39F8F03E4E}" type="pres">
      <dgm:prSet presAssocID="{A3C6E20D-FE1D-427F-8109-8E427A75AD92}" presName="hierRoot2" presStyleCnt="0">
        <dgm:presLayoutVars>
          <dgm:hierBranch val="init"/>
        </dgm:presLayoutVars>
      </dgm:prSet>
      <dgm:spPr/>
    </dgm:pt>
    <dgm:pt modelId="{FD44BB48-ECF9-4FE8-AC8C-DB859611CD07}" type="pres">
      <dgm:prSet presAssocID="{A3C6E20D-FE1D-427F-8109-8E427A75AD92}" presName="rootComposite" presStyleCnt="0"/>
      <dgm:spPr/>
    </dgm:pt>
    <dgm:pt modelId="{9F333182-4360-40FB-9A89-6AFF91E40192}" type="pres">
      <dgm:prSet presAssocID="{A3C6E20D-FE1D-427F-8109-8E427A75AD92}" presName="rootText" presStyleLbl="node2" presStyleIdx="0" presStyleCnt="2" custLinFactNeighborX="-68" custLinFactNeighborY="26880">
        <dgm:presLayoutVars>
          <dgm:chPref val="3"/>
        </dgm:presLayoutVars>
      </dgm:prSet>
      <dgm:spPr/>
    </dgm:pt>
    <dgm:pt modelId="{EA4B0D82-E559-4A04-8093-3D704A57160F}" type="pres">
      <dgm:prSet presAssocID="{A3C6E20D-FE1D-427F-8109-8E427A75AD92}" presName="rootConnector" presStyleLbl="node2" presStyleIdx="0" presStyleCnt="2"/>
      <dgm:spPr/>
    </dgm:pt>
    <dgm:pt modelId="{84F7AAF7-5273-4E7D-8E6D-5DC3EF4C54E6}" type="pres">
      <dgm:prSet presAssocID="{A3C6E20D-FE1D-427F-8109-8E427A75AD92}" presName="hierChild4" presStyleCnt="0"/>
      <dgm:spPr/>
    </dgm:pt>
    <dgm:pt modelId="{67118C55-B9AD-444B-AA08-9F9E4FE828D5}" type="pres">
      <dgm:prSet presAssocID="{A3C6E20D-FE1D-427F-8109-8E427A75AD92}" presName="hierChild5" presStyleCnt="0"/>
      <dgm:spPr/>
    </dgm:pt>
    <dgm:pt modelId="{6DC65245-2119-41EF-BDD2-E33C86AD8BA6}" type="pres">
      <dgm:prSet presAssocID="{B3D8FEE3-5871-4327-A41C-F42CB72D091A}" presName="Name37" presStyleLbl="parChTrans1D2" presStyleIdx="1" presStyleCnt="2"/>
      <dgm:spPr/>
    </dgm:pt>
    <dgm:pt modelId="{54F2CDBF-FBB7-4BEE-A189-8B0C2CA14FAD}" type="pres">
      <dgm:prSet presAssocID="{5A2E0A7A-0444-4BE0-BFBA-EC1D77C2112A}" presName="hierRoot2" presStyleCnt="0">
        <dgm:presLayoutVars>
          <dgm:hierBranch val="init"/>
        </dgm:presLayoutVars>
      </dgm:prSet>
      <dgm:spPr/>
    </dgm:pt>
    <dgm:pt modelId="{FBFC2B2A-7E31-492F-9BF9-8A88591B788B}" type="pres">
      <dgm:prSet presAssocID="{5A2E0A7A-0444-4BE0-BFBA-EC1D77C2112A}" presName="rootComposite" presStyleCnt="0"/>
      <dgm:spPr/>
    </dgm:pt>
    <dgm:pt modelId="{B88308BF-63F6-4EF3-ACDE-B856C05DF8B8}" type="pres">
      <dgm:prSet presAssocID="{5A2E0A7A-0444-4BE0-BFBA-EC1D77C2112A}" presName="rootText" presStyleLbl="node2" presStyleIdx="1" presStyleCnt="2" custScaleX="113591" custScaleY="97389" custLinFactNeighborX="68" custLinFactNeighborY="21809">
        <dgm:presLayoutVars>
          <dgm:chPref val="3"/>
        </dgm:presLayoutVars>
      </dgm:prSet>
      <dgm:spPr/>
    </dgm:pt>
    <dgm:pt modelId="{EF3888DA-B11B-44EB-B995-A5B0CC6E0FD7}" type="pres">
      <dgm:prSet presAssocID="{5A2E0A7A-0444-4BE0-BFBA-EC1D77C2112A}" presName="rootConnector" presStyleLbl="node2" presStyleIdx="1" presStyleCnt="2"/>
      <dgm:spPr/>
    </dgm:pt>
    <dgm:pt modelId="{F695D1AC-1DE9-441C-B1BF-41F0D6BB5437}" type="pres">
      <dgm:prSet presAssocID="{5A2E0A7A-0444-4BE0-BFBA-EC1D77C2112A}" presName="hierChild4" presStyleCnt="0"/>
      <dgm:spPr/>
    </dgm:pt>
    <dgm:pt modelId="{D7BC66E9-9CE5-4E7F-BFDE-E8F2A69DA837}" type="pres">
      <dgm:prSet presAssocID="{5A2E0A7A-0444-4BE0-BFBA-EC1D77C2112A}" presName="hierChild5" presStyleCnt="0"/>
      <dgm:spPr/>
    </dgm:pt>
    <dgm:pt modelId="{46E424CF-C59D-4174-B8DA-511E3C199BD3}" type="pres">
      <dgm:prSet presAssocID="{3606CD97-2424-44AF-A207-7BDF66356C3F}" presName="hierChild3" presStyleCnt="0"/>
      <dgm:spPr/>
    </dgm:pt>
  </dgm:ptLst>
  <dgm:cxnLst>
    <dgm:cxn modelId="{C12D7727-5DA0-47E1-84F0-8412EACF43A5}" srcId="{3606CD97-2424-44AF-A207-7BDF66356C3F}" destId="{A3C6E20D-FE1D-427F-8109-8E427A75AD92}" srcOrd="0" destOrd="0" parTransId="{7D4A31B8-E172-4E02-8274-7911E3C5689B}" sibTransId="{04E7C547-6A40-4515-8EF4-10B00CF60A22}"/>
    <dgm:cxn modelId="{C78E6C31-6F98-485A-ABEF-CF6149B86AAB}" type="presOf" srcId="{5A2E0A7A-0444-4BE0-BFBA-EC1D77C2112A}" destId="{EF3888DA-B11B-44EB-B995-A5B0CC6E0FD7}" srcOrd="1" destOrd="0" presId="urn:microsoft.com/office/officeart/2005/8/layout/orgChart1"/>
    <dgm:cxn modelId="{7D21D35C-10A2-4BDB-961E-BDADC9AF5FB9}" type="presOf" srcId="{5A2E0A7A-0444-4BE0-BFBA-EC1D77C2112A}" destId="{B88308BF-63F6-4EF3-ACDE-B856C05DF8B8}" srcOrd="0" destOrd="0" presId="urn:microsoft.com/office/officeart/2005/8/layout/orgChart1"/>
    <dgm:cxn modelId="{5B88DD7A-A48A-4FA0-95C5-88763D11652A}" srcId="{907F35D2-B972-43DE-A6B3-C0E93A4EF23B}" destId="{3606CD97-2424-44AF-A207-7BDF66356C3F}" srcOrd="0" destOrd="0" parTransId="{B3228F5A-5D29-4C20-8175-8849D4FD1D9C}" sibTransId="{6999196C-C280-426E-A109-98F23FCD58C0}"/>
    <dgm:cxn modelId="{8B8AA193-E80A-4ABC-BAE4-19E72BD25E78}" srcId="{3606CD97-2424-44AF-A207-7BDF66356C3F}" destId="{5A2E0A7A-0444-4BE0-BFBA-EC1D77C2112A}" srcOrd="1" destOrd="0" parTransId="{B3D8FEE3-5871-4327-A41C-F42CB72D091A}" sibTransId="{2CA4E16C-3F93-43DA-94CD-81471F2236D9}"/>
    <dgm:cxn modelId="{CBCADE95-43D6-4313-AED3-12E48A6E686B}" type="presOf" srcId="{907F35D2-B972-43DE-A6B3-C0E93A4EF23B}" destId="{D73CD76A-608E-4777-ABF9-95F3FAC4C929}" srcOrd="0" destOrd="0" presId="urn:microsoft.com/office/officeart/2005/8/layout/orgChart1"/>
    <dgm:cxn modelId="{0C86159F-A694-4D35-8FEC-8D44226F4F8F}" type="presOf" srcId="{3606CD97-2424-44AF-A207-7BDF66356C3F}" destId="{854B9EB1-FF97-453F-A8E0-3AA66AE23F19}" srcOrd="1" destOrd="0" presId="urn:microsoft.com/office/officeart/2005/8/layout/orgChart1"/>
    <dgm:cxn modelId="{49DA2FA6-C948-4896-89B3-78BD869FF400}" type="presOf" srcId="{3606CD97-2424-44AF-A207-7BDF66356C3F}" destId="{4A16BCC4-0B1D-4785-A10B-3291A58C4C85}" srcOrd="0" destOrd="0" presId="urn:microsoft.com/office/officeart/2005/8/layout/orgChart1"/>
    <dgm:cxn modelId="{3ED9D6A6-9DBF-4B86-A8A2-9849346F7C6E}" type="presOf" srcId="{A3C6E20D-FE1D-427F-8109-8E427A75AD92}" destId="{9F333182-4360-40FB-9A89-6AFF91E40192}" srcOrd="0" destOrd="0" presId="urn:microsoft.com/office/officeart/2005/8/layout/orgChart1"/>
    <dgm:cxn modelId="{E74691D1-55E0-4635-BEE2-143F0CE4668D}" type="presOf" srcId="{7D4A31B8-E172-4E02-8274-7911E3C5689B}" destId="{A0A9BAA4-D14F-4DAE-B989-856399EF9638}" srcOrd="0" destOrd="0" presId="urn:microsoft.com/office/officeart/2005/8/layout/orgChart1"/>
    <dgm:cxn modelId="{95EEB9D2-7D52-4B32-BA82-40D663203BD6}" type="presOf" srcId="{B3D8FEE3-5871-4327-A41C-F42CB72D091A}" destId="{6DC65245-2119-41EF-BDD2-E33C86AD8BA6}" srcOrd="0" destOrd="0" presId="urn:microsoft.com/office/officeart/2005/8/layout/orgChart1"/>
    <dgm:cxn modelId="{4F6D3ED4-A027-4554-B26C-D478FAE37CB8}" type="presOf" srcId="{A3C6E20D-FE1D-427F-8109-8E427A75AD92}" destId="{EA4B0D82-E559-4A04-8093-3D704A57160F}" srcOrd="1" destOrd="0" presId="urn:microsoft.com/office/officeart/2005/8/layout/orgChart1"/>
    <dgm:cxn modelId="{82709636-FAC9-4F7B-A881-BBB0D0CB46EC}" type="presParOf" srcId="{D73CD76A-608E-4777-ABF9-95F3FAC4C929}" destId="{CDB1209C-F6C5-4B68-B291-16DD54D9E3EC}" srcOrd="0" destOrd="0" presId="urn:microsoft.com/office/officeart/2005/8/layout/orgChart1"/>
    <dgm:cxn modelId="{AA149E93-3B02-4280-914A-A273EBA3E4E6}" type="presParOf" srcId="{CDB1209C-F6C5-4B68-B291-16DD54D9E3EC}" destId="{7B40783D-50B0-41C7-964E-3DE58BCF1695}" srcOrd="0" destOrd="0" presId="urn:microsoft.com/office/officeart/2005/8/layout/orgChart1"/>
    <dgm:cxn modelId="{39D85A9B-4502-49E0-B1D1-AF37341B614C}" type="presParOf" srcId="{7B40783D-50B0-41C7-964E-3DE58BCF1695}" destId="{4A16BCC4-0B1D-4785-A10B-3291A58C4C85}" srcOrd="0" destOrd="0" presId="urn:microsoft.com/office/officeart/2005/8/layout/orgChart1"/>
    <dgm:cxn modelId="{401E66DF-0CA5-4135-8F8E-29D5673036C0}" type="presParOf" srcId="{7B40783D-50B0-41C7-964E-3DE58BCF1695}" destId="{854B9EB1-FF97-453F-A8E0-3AA66AE23F19}" srcOrd="1" destOrd="0" presId="urn:microsoft.com/office/officeart/2005/8/layout/orgChart1"/>
    <dgm:cxn modelId="{A3929D83-A247-4138-B991-DE3AB39C2E12}" type="presParOf" srcId="{CDB1209C-F6C5-4B68-B291-16DD54D9E3EC}" destId="{3905923F-13C4-4305-BAFA-AED642F298FD}" srcOrd="1" destOrd="0" presId="urn:microsoft.com/office/officeart/2005/8/layout/orgChart1"/>
    <dgm:cxn modelId="{F8E3ECFD-2D14-4EDC-B7E8-935F224A1C35}" type="presParOf" srcId="{3905923F-13C4-4305-BAFA-AED642F298FD}" destId="{A0A9BAA4-D14F-4DAE-B989-856399EF9638}" srcOrd="0" destOrd="0" presId="urn:microsoft.com/office/officeart/2005/8/layout/orgChart1"/>
    <dgm:cxn modelId="{40BAC2C5-10CF-4967-9469-76677D1FE11A}" type="presParOf" srcId="{3905923F-13C4-4305-BAFA-AED642F298FD}" destId="{DB10A84B-CA08-453D-B20A-8B39F8F03E4E}" srcOrd="1" destOrd="0" presId="urn:microsoft.com/office/officeart/2005/8/layout/orgChart1"/>
    <dgm:cxn modelId="{1B451100-15B2-43BE-89B3-8E7F40C75D47}" type="presParOf" srcId="{DB10A84B-CA08-453D-B20A-8B39F8F03E4E}" destId="{FD44BB48-ECF9-4FE8-AC8C-DB859611CD07}" srcOrd="0" destOrd="0" presId="urn:microsoft.com/office/officeart/2005/8/layout/orgChart1"/>
    <dgm:cxn modelId="{74FC7DD9-92DE-4F73-8932-008D2CC89F61}" type="presParOf" srcId="{FD44BB48-ECF9-4FE8-AC8C-DB859611CD07}" destId="{9F333182-4360-40FB-9A89-6AFF91E40192}" srcOrd="0" destOrd="0" presId="urn:microsoft.com/office/officeart/2005/8/layout/orgChart1"/>
    <dgm:cxn modelId="{9614E814-213C-4B81-B2BC-19F990D06AD3}" type="presParOf" srcId="{FD44BB48-ECF9-4FE8-AC8C-DB859611CD07}" destId="{EA4B0D82-E559-4A04-8093-3D704A57160F}" srcOrd="1" destOrd="0" presId="urn:microsoft.com/office/officeart/2005/8/layout/orgChart1"/>
    <dgm:cxn modelId="{86EADDCF-F117-410A-88F8-9F7EE85EE6BC}" type="presParOf" srcId="{DB10A84B-CA08-453D-B20A-8B39F8F03E4E}" destId="{84F7AAF7-5273-4E7D-8E6D-5DC3EF4C54E6}" srcOrd="1" destOrd="0" presId="urn:microsoft.com/office/officeart/2005/8/layout/orgChart1"/>
    <dgm:cxn modelId="{57A74AB3-3418-4D6F-AC0C-CD5A845D2C4F}" type="presParOf" srcId="{DB10A84B-CA08-453D-B20A-8B39F8F03E4E}" destId="{67118C55-B9AD-444B-AA08-9F9E4FE828D5}" srcOrd="2" destOrd="0" presId="urn:microsoft.com/office/officeart/2005/8/layout/orgChart1"/>
    <dgm:cxn modelId="{3DFA1380-EE91-4732-AE4E-31F600CC3DD5}" type="presParOf" srcId="{3905923F-13C4-4305-BAFA-AED642F298FD}" destId="{6DC65245-2119-41EF-BDD2-E33C86AD8BA6}" srcOrd="2" destOrd="0" presId="urn:microsoft.com/office/officeart/2005/8/layout/orgChart1"/>
    <dgm:cxn modelId="{91D0ED5D-10A7-4ACA-9166-E7F49A04D64D}" type="presParOf" srcId="{3905923F-13C4-4305-BAFA-AED642F298FD}" destId="{54F2CDBF-FBB7-4BEE-A189-8B0C2CA14FAD}" srcOrd="3" destOrd="0" presId="urn:microsoft.com/office/officeart/2005/8/layout/orgChart1"/>
    <dgm:cxn modelId="{B46D7632-0541-4473-92D3-2278DF2680FD}" type="presParOf" srcId="{54F2CDBF-FBB7-4BEE-A189-8B0C2CA14FAD}" destId="{FBFC2B2A-7E31-492F-9BF9-8A88591B788B}" srcOrd="0" destOrd="0" presId="urn:microsoft.com/office/officeart/2005/8/layout/orgChart1"/>
    <dgm:cxn modelId="{C189CD11-15E5-4B28-82BC-688F75903FF5}" type="presParOf" srcId="{FBFC2B2A-7E31-492F-9BF9-8A88591B788B}" destId="{B88308BF-63F6-4EF3-ACDE-B856C05DF8B8}" srcOrd="0" destOrd="0" presId="urn:microsoft.com/office/officeart/2005/8/layout/orgChart1"/>
    <dgm:cxn modelId="{37835115-4223-4A44-BF06-D5EA35B40AE1}" type="presParOf" srcId="{FBFC2B2A-7E31-492F-9BF9-8A88591B788B}" destId="{EF3888DA-B11B-44EB-B995-A5B0CC6E0FD7}" srcOrd="1" destOrd="0" presId="urn:microsoft.com/office/officeart/2005/8/layout/orgChart1"/>
    <dgm:cxn modelId="{98A5DB52-E6E0-47E4-91B7-5D76E59AAF6F}" type="presParOf" srcId="{54F2CDBF-FBB7-4BEE-A189-8B0C2CA14FAD}" destId="{F695D1AC-1DE9-441C-B1BF-41F0D6BB5437}" srcOrd="1" destOrd="0" presId="urn:microsoft.com/office/officeart/2005/8/layout/orgChart1"/>
    <dgm:cxn modelId="{C067BA97-E8D2-4482-B139-50BB20E0A133}" type="presParOf" srcId="{54F2CDBF-FBB7-4BEE-A189-8B0C2CA14FAD}" destId="{D7BC66E9-9CE5-4E7F-BFDE-E8F2A69DA837}" srcOrd="2" destOrd="0" presId="urn:microsoft.com/office/officeart/2005/8/layout/orgChart1"/>
    <dgm:cxn modelId="{49E2354D-58FC-4630-B5D5-BCA790D1558A}" type="presParOf" srcId="{CDB1209C-F6C5-4B68-B291-16DD54D9E3EC}" destId="{46E424CF-C59D-4174-B8DA-511E3C199BD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65245-2119-41EF-BDD2-E33C86AD8BA6}">
      <dsp:nvSpPr>
        <dsp:cNvPr id="0" name=""/>
        <dsp:cNvSpPr/>
      </dsp:nvSpPr>
      <dsp:spPr>
        <a:xfrm>
          <a:off x="2864126" y="1249303"/>
          <a:ext cx="1478089" cy="778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2351"/>
              </a:lnTo>
              <a:lnTo>
                <a:pt x="1478089" y="522351"/>
              </a:lnTo>
              <a:lnTo>
                <a:pt x="1478089" y="7785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A9BAA4-D14F-4DAE-B989-856399EF9638}">
      <dsp:nvSpPr>
        <dsp:cNvPr id="0" name=""/>
        <dsp:cNvSpPr/>
      </dsp:nvSpPr>
      <dsp:spPr>
        <a:xfrm>
          <a:off x="1220200" y="1249303"/>
          <a:ext cx="1643925" cy="840467"/>
        </a:xfrm>
        <a:custGeom>
          <a:avLst/>
          <a:gdLst/>
          <a:ahLst/>
          <a:cxnLst/>
          <a:rect l="0" t="0" r="0" b="0"/>
          <a:pathLst>
            <a:path>
              <a:moveTo>
                <a:pt x="1643925" y="0"/>
              </a:moveTo>
              <a:lnTo>
                <a:pt x="1643925" y="584227"/>
              </a:lnTo>
              <a:lnTo>
                <a:pt x="0" y="584227"/>
              </a:lnTo>
              <a:lnTo>
                <a:pt x="0" y="8404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16BCC4-0B1D-4785-A10B-3291A58C4C85}">
      <dsp:nvSpPr>
        <dsp:cNvPr id="0" name=""/>
        <dsp:cNvSpPr/>
      </dsp:nvSpPr>
      <dsp:spPr>
        <a:xfrm>
          <a:off x="1820228" y="731210"/>
          <a:ext cx="2087794" cy="518092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Takt time</a:t>
          </a:r>
        </a:p>
      </dsp:txBody>
      <dsp:txXfrm>
        <a:off x="1820228" y="731210"/>
        <a:ext cx="2087794" cy="518092"/>
      </dsp:txXfrm>
    </dsp:sp>
    <dsp:sp modelId="{9F333182-4360-40FB-9A89-6AFF91E40192}">
      <dsp:nvSpPr>
        <dsp:cNvPr id="0" name=""/>
        <dsp:cNvSpPr/>
      </dsp:nvSpPr>
      <dsp:spPr>
        <a:xfrm>
          <a:off x="9" y="2089770"/>
          <a:ext cx="2440380" cy="1220190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Customer Takt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(The time, Customer expects part to be made)</a:t>
          </a:r>
        </a:p>
      </dsp:txBody>
      <dsp:txXfrm>
        <a:off x="9" y="2089770"/>
        <a:ext cx="2440380" cy="1220190"/>
      </dsp:txXfrm>
    </dsp:sp>
    <dsp:sp modelId="{B88308BF-63F6-4EF3-ACDE-B856C05DF8B8}">
      <dsp:nvSpPr>
        <dsp:cNvPr id="0" name=""/>
        <dsp:cNvSpPr/>
      </dsp:nvSpPr>
      <dsp:spPr>
        <a:xfrm>
          <a:off x="2956189" y="2027895"/>
          <a:ext cx="2772052" cy="1188331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Actual Takt</a:t>
          </a:r>
          <a:r>
            <a:rPr lang="en-IN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(The time which is taken by machine for manufacturing the part)</a:t>
          </a:r>
        </a:p>
      </dsp:txBody>
      <dsp:txXfrm>
        <a:off x="2956189" y="2027895"/>
        <a:ext cx="2772052" cy="11883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95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96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793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806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752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64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186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57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431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93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77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D54532C-AEA3-4A94-8F73-D525A33594BE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70DEC8C2-49CB-4096-8043-65B01C3F6A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80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F33A-2B86-E098-2A63-9C0E0B13E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7982"/>
            <a:ext cx="9144000" cy="1047801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in Shop Floor Management Cycle (SFMC) at BOSCH Nashik Plant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20E98-B8D5-0598-9AEE-1BB8E29DD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32212"/>
            <a:ext cx="9144000" cy="596336"/>
          </a:xfrm>
        </p:spPr>
        <p:txBody>
          <a:bodyPr>
            <a:normAutofit/>
          </a:bodyPr>
          <a:lstStyle/>
          <a:p>
            <a:r>
              <a:rPr lang="en-US" b="1" dirty="0"/>
              <a:t>Internship Duration:</a:t>
            </a:r>
            <a:r>
              <a:rPr lang="en-US" dirty="0"/>
              <a:t> 2</a:t>
            </a:r>
            <a:r>
              <a:rPr lang="en-US" baseline="30000" dirty="0"/>
              <a:t>nd</a:t>
            </a:r>
            <a:r>
              <a:rPr lang="en-US" dirty="0"/>
              <a:t> June 2025 – 31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r>
              <a:rPr lang="en-IN" dirty="0"/>
              <a:t>November 2025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DB4BE9-4DC1-6EEC-79A8-7782A0E765FE}"/>
              </a:ext>
            </a:extLst>
          </p:cNvPr>
          <p:cNvSpPr/>
          <p:nvPr/>
        </p:nvSpPr>
        <p:spPr>
          <a:xfrm>
            <a:off x="0" y="0"/>
            <a:ext cx="58993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88AEFC-E599-C52A-AF2C-1548AACFD75C}"/>
              </a:ext>
            </a:extLst>
          </p:cNvPr>
          <p:cNvSpPr/>
          <p:nvPr/>
        </p:nvSpPr>
        <p:spPr>
          <a:xfrm>
            <a:off x="589935" y="0"/>
            <a:ext cx="589935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Image result for mit academy of engineering logo">
            <a:extLst>
              <a:ext uri="{FF2B5EF4-FFF2-40B4-BE49-F238E27FC236}">
                <a16:creationId xmlns:a16="http://schemas.microsoft.com/office/drawing/2014/main" id="{05720459-5239-4DF6-8D21-C36E26F1B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05" y="275148"/>
            <a:ext cx="4914900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3688A9-0DF4-F07B-83D2-128E44B2C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45" b="16110"/>
          <a:stretch>
            <a:fillRect/>
          </a:stretch>
        </p:blipFill>
        <p:spPr>
          <a:xfrm>
            <a:off x="7648267" y="118906"/>
            <a:ext cx="3698159" cy="12364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034971-A713-5DEF-D585-2B1457A0E153}"/>
              </a:ext>
            </a:extLst>
          </p:cNvPr>
          <p:cNvSpPr txBox="1"/>
          <p:nvPr/>
        </p:nvSpPr>
        <p:spPr>
          <a:xfrm>
            <a:off x="1769805" y="4630993"/>
            <a:ext cx="7502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 Pradyumna Kulkarni</a:t>
            </a:r>
            <a:br>
              <a:rPr lang="en-IN" dirty="0"/>
            </a:br>
            <a:r>
              <a:rPr lang="en-US" dirty="0"/>
              <a:t>PRN: 202201090099</a:t>
            </a:r>
            <a:br>
              <a:rPr lang="en-US" dirty="0"/>
            </a:br>
            <a:r>
              <a:rPr lang="en-US" dirty="0"/>
              <a:t>Department: School of Mechanical Engineering.</a:t>
            </a:r>
          </a:p>
          <a:p>
            <a:r>
              <a:rPr lang="en-US" dirty="0"/>
              <a:t>Course : Semester Long Internship Program (SLIP)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020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620E-78FD-BCC4-37CF-560884F9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77153D-9B74-DA25-507D-311B589B0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577"/>
          <a:stretch>
            <a:fillRect/>
          </a:stretch>
        </p:blipFill>
        <p:spPr>
          <a:xfrm>
            <a:off x="192043" y="182880"/>
            <a:ext cx="11807914" cy="6045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8186D5-FE42-710E-1769-A4ABCAA744A2}"/>
              </a:ext>
            </a:extLst>
          </p:cNvPr>
          <p:cNvSpPr txBox="1"/>
          <p:nvPr/>
        </p:nvSpPr>
        <p:spPr>
          <a:xfrm>
            <a:off x="5207000" y="6305788"/>
            <a:ext cx="1777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BOSCH Nashik</a:t>
            </a:r>
          </a:p>
        </p:txBody>
      </p:sp>
    </p:spTree>
    <p:extLst>
      <p:ext uri="{BB962C8B-B14F-4D97-AF65-F5344CB8AC3E}">
        <p14:creationId xmlns:p14="http://schemas.microsoft.com/office/powerpoint/2010/main" val="460625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0E93F-6182-B5DD-9880-2A912543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9778D-3AD0-14EE-AA2B-4FC65B385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394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Pradyumna Kulkarni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pursuing B tech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MIT Academy of Engineering.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interning at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BOSCH India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MFC2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(Body Manufacturing).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duration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 months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(Completed 5 months so far).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Mentor: Mr. Sachin Bhandare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Guide: R. A. Patil sir.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51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855A-99FE-C642-CD9C-68FE91DA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Company: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8D6EB-0DE0-4DA8-FD8E-C71A631F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November 1886, Stuttgart, Germany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Gerlingen, Germany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Business Areas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Mobility Solutions, Industrial Technology, Consumer Goods (including power tools), and Energy and Building Technology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Presence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Bosch Group comprises Robert Bosch GmbH and its roughly 490 subsidiary and regional companies in over 60 countries.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58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822D8-3F6E-2703-D267-5B64A0C8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524F-2B54-49EF-01ED-FE1A32F1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Company: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B02A8-88C3-0785-5F17-4E7CDFC95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Nashik Plant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- Bosch Limited.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- Post Box No. 64 75, MIDC Estate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Satpur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Trimbak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422 007, Nashik Maharashtra, India.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Size - 400,000 sq. m.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Type - Manufacturing Plant.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Turnover - 26,827 Crores (3.1 Billion Euros).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Employees - 1800 People.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Plant -17 Manufacturing sites &amp; 7 development and Application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Product of the Plant : Fuel Injector</a:t>
            </a:r>
          </a:p>
          <a:p>
            <a:pPr>
              <a:lnSpc>
                <a:spcPct val="150000"/>
              </a:lnSpc>
            </a:pPr>
            <a:endParaRPr lang="en-IN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94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9B1A-F9D8-D783-323A-84067C90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37F7F-7ACA-1FE8-FF34-D6C524D50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industry exposure in core Industrial principles and practices.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classroom knowledge in real-world projects.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(PDCA Cycle, Kaizens, 5S, Poka Yoke,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tools/software like [list tools]. : 7QC, 8D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to ongoing company projects.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technical and soft skills.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615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B91D-20D0-129B-2DBB-25D54AF6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being used so far: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C177E4-6587-E428-AB9F-0F2F24267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2062162"/>
            <a:ext cx="4700588" cy="39385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F3246A-F097-0E44-7027-E0B934F41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7" t="11528" r="9307" b="4028"/>
          <a:stretch>
            <a:fillRect/>
          </a:stretch>
        </p:blipFill>
        <p:spPr>
          <a:xfrm>
            <a:off x="6096000" y="1986335"/>
            <a:ext cx="5865701" cy="39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76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DDD3-1E6C-4CB1-FAB0-70B41E30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flow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5E89FC-2474-21EA-0145-1C5F49BFCE94}"/>
              </a:ext>
            </a:extLst>
          </p:cNvPr>
          <p:cNvGrpSpPr/>
          <p:nvPr/>
        </p:nvGrpSpPr>
        <p:grpSpPr>
          <a:xfrm>
            <a:off x="1251516" y="2172634"/>
            <a:ext cx="9041826" cy="3840049"/>
            <a:chOff x="1870948" y="2093976"/>
            <a:chExt cx="9041826" cy="384004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2A1391C-6BBD-28BD-A30E-9C508A4E226C}"/>
                </a:ext>
              </a:extLst>
            </p:cNvPr>
            <p:cNvGrpSpPr/>
            <p:nvPr/>
          </p:nvGrpSpPr>
          <p:grpSpPr>
            <a:xfrm>
              <a:off x="1870948" y="2093976"/>
              <a:ext cx="9041826" cy="3840049"/>
              <a:chOff x="1818968" y="2093624"/>
              <a:chExt cx="9041826" cy="3840049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2B8579E-11EC-0FF3-BF79-B7A7FB8D49F2}"/>
                  </a:ext>
                </a:extLst>
              </p:cNvPr>
              <p:cNvSpPr/>
              <p:nvPr/>
            </p:nvSpPr>
            <p:spPr>
              <a:xfrm>
                <a:off x="1818968" y="2093977"/>
                <a:ext cx="1802216" cy="1169294"/>
              </a:xfrm>
              <a:custGeom>
                <a:avLst/>
                <a:gdLst>
                  <a:gd name="connsiteX0" fmla="*/ 0 w 531033"/>
                  <a:gd name="connsiteY0" fmla="*/ 53103 h 1925684"/>
                  <a:gd name="connsiteX1" fmla="*/ 53103 w 531033"/>
                  <a:gd name="connsiteY1" fmla="*/ 0 h 1925684"/>
                  <a:gd name="connsiteX2" fmla="*/ 477930 w 531033"/>
                  <a:gd name="connsiteY2" fmla="*/ 0 h 1925684"/>
                  <a:gd name="connsiteX3" fmla="*/ 531033 w 531033"/>
                  <a:gd name="connsiteY3" fmla="*/ 53103 h 1925684"/>
                  <a:gd name="connsiteX4" fmla="*/ 531033 w 531033"/>
                  <a:gd name="connsiteY4" fmla="*/ 1872581 h 1925684"/>
                  <a:gd name="connsiteX5" fmla="*/ 477930 w 531033"/>
                  <a:gd name="connsiteY5" fmla="*/ 1925684 h 1925684"/>
                  <a:gd name="connsiteX6" fmla="*/ 53103 w 531033"/>
                  <a:gd name="connsiteY6" fmla="*/ 1925684 h 1925684"/>
                  <a:gd name="connsiteX7" fmla="*/ 0 w 531033"/>
                  <a:gd name="connsiteY7" fmla="*/ 1872581 h 1925684"/>
                  <a:gd name="connsiteX8" fmla="*/ 0 w 531033"/>
                  <a:gd name="connsiteY8" fmla="*/ 53103 h 1925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31033" h="1925684">
                    <a:moveTo>
                      <a:pt x="0" y="53103"/>
                    </a:moveTo>
                    <a:cubicBezTo>
                      <a:pt x="0" y="23775"/>
                      <a:pt x="23775" y="0"/>
                      <a:pt x="53103" y="0"/>
                    </a:cubicBezTo>
                    <a:lnTo>
                      <a:pt x="477930" y="0"/>
                    </a:lnTo>
                    <a:cubicBezTo>
                      <a:pt x="507258" y="0"/>
                      <a:pt x="531033" y="23775"/>
                      <a:pt x="531033" y="53103"/>
                    </a:cubicBezTo>
                    <a:lnTo>
                      <a:pt x="531033" y="1872581"/>
                    </a:lnTo>
                    <a:cubicBezTo>
                      <a:pt x="531033" y="1901909"/>
                      <a:pt x="507258" y="1925684"/>
                      <a:pt x="477930" y="1925684"/>
                    </a:cubicBezTo>
                    <a:lnTo>
                      <a:pt x="53103" y="1925684"/>
                    </a:lnTo>
                    <a:cubicBezTo>
                      <a:pt x="23775" y="1925684"/>
                      <a:pt x="0" y="1901909"/>
                      <a:pt x="0" y="1872581"/>
                    </a:cubicBezTo>
                    <a:lnTo>
                      <a:pt x="0" y="5310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4603" tIns="34603" rIns="34603" bIns="34603" numCol="1" spcCol="1270" anchor="ctr" anchorCtr="0">
                <a:noAutofit/>
              </a:bodyPr>
              <a:lstStyle/>
              <a:p>
                <a:pPr marL="0" lvl="0" indent="0"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Turning</a:t>
                </a: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EAB225C-006F-DCE1-D916-F951E346BCA5}"/>
                  </a:ext>
                </a:extLst>
              </p:cNvPr>
              <p:cNvSpPr/>
              <p:nvPr/>
            </p:nvSpPr>
            <p:spPr>
              <a:xfrm>
                <a:off x="4159186" y="2093624"/>
                <a:ext cx="1803600" cy="1170000"/>
              </a:xfrm>
              <a:custGeom>
                <a:avLst/>
                <a:gdLst>
                  <a:gd name="connsiteX0" fmla="*/ 0 w 804545"/>
                  <a:gd name="connsiteY0" fmla="*/ 80455 h 1819671"/>
                  <a:gd name="connsiteX1" fmla="*/ 80455 w 804545"/>
                  <a:gd name="connsiteY1" fmla="*/ 0 h 1819671"/>
                  <a:gd name="connsiteX2" fmla="*/ 724091 w 804545"/>
                  <a:gd name="connsiteY2" fmla="*/ 0 h 1819671"/>
                  <a:gd name="connsiteX3" fmla="*/ 804546 w 804545"/>
                  <a:gd name="connsiteY3" fmla="*/ 80455 h 1819671"/>
                  <a:gd name="connsiteX4" fmla="*/ 804545 w 804545"/>
                  <a:gd name="connsiteY4" fmla="*/ 1739217 h 1819671"/>
                  <a:gd name="connsiteX5" fmla="*/ 724090 w 804545"/>
                  <a:gd name="connsiteY5" fmla="*/ 1819672 h 1819671"/>
                  <a:gd name="connsiteX6" fmla="*/ 80455 w 804545"/>
                  <a:gd name="connsiteY6" fmla="*/ 1819671 h 1819671"/>
                  <a:gd name="connsiteX7" fmla="*/ 0 w 804545"/>
                  <a:gd name="connsiteY7" fmla="*/ 1739216 h 1819671"/>
                  <a:gd name="connsiteX8" fmla="*/ 0 w 804545"/>
                  <a:gd name="connsiteY8" fmla="*/ 80455 h 181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04545" h="1819671">
                    <a:moveTo>
                      <a:pt x="0" y="80455"/>
                    </a:moveTo>
                    <a:cubicBezTo>
                      <a:pt x="0" y="36021"/>
                      <a:pt x="36021" y="0"/>
                      <a:pt x="80455" y="0"/>
                    </a:cubicBezTo>
                    <a:lnTo>
                      <a:pt x="724091" y="0"/>
                    </a:lnTo>
                    <a:cubicBezTo>
                      <a:pt x="768525" y="0"/>
                      <a:pt x="804546" y="36021"/>
                      <a:pt x="804546" y="80455"/>
                    </a:cubicBezTo>
                    <a:cubicBezTo>
                      <a:pt x="804546" y="633376"/>
                      <a:pt x="804545" y="1186296"/>
                      <a:pt x="804545" y="1739217"/>
                    </a:cubicBezTo>
                    <a:cubicBezTo>
                      <a:pt x="804545" y="1783651"/>
                      <a:pt x="768524" y="1819672"/>
                      <a:pt x="724090" y="1819672"/>
                    </a:cubicBezTo>
                    <a:lnTo>
                      <a:pt x="80455" y="1819671"/>
                    </a:lnTo>
                    <a:cubicBezTo>
                      <a:pt x="36021" y="1819671"/>
                      <a:pt x="0" y="1783650"/>
                      <a:pt x="0" y="1739216"/>
                    </a:cubicBezTo>
                    <a:lnTo>
                      <a:pt x="0" y="80455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2614" tIns="42614" rIns="42614" bIns="42614" numCol="1" spcCol="1270" anchor="ctr" anchorCtr="0">
                <a:noAutofit/>
              </a:bodyPr>
              <a:lstStyle/>
              <a:p>
                <a:pPr marL="0" lvl="0" indent="0"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6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Drilling 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16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(Inlet, 1.2,1,43,2,2</a:t>
                </a:r>
                <a:r>
                  <a:rPr lang="en-IN" sz="12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2663CE4-EFEB-8450-5B7D-4002384BC81F}"/>
                  </a:ext>
                </a:extLst>
              </p:cNvPr>
              <p:cNvSpPr/>
              <p:nvPr/>
            </p:nvSpPr>
            <p:spPr>
              <a:xfrm>
                <a:off x="6592522" y="2110857"/>
                <a:ext cx="1803600" cy="1170000"/>
              </a:xfrm>
              <a:custGeom>
                <a:avLst/>
                <a:gdLst>
                  <a:gd name="connsiteX0" fmla="*/ 0 w 1399669"/>
                  <a:gd name="connsiteY0" fmla="*/ 37287 h 372869"/>
                  <a:gd name="connsiteX1" fmla="*/ 37287 w 1399669"/>
                  <a:gd name="connsiteY1" fmla="*/ 0 h 372869"/>
                  <a:gd name="connsiteX2" fmla="*/ 1362382 w 1399669"/>
                  <a:gd name="connsiteY2" fmla="*/ 0 h 372869"/>
                  <a:gd name="connsiteX3" fmla="*/ 1399669 w 1399669"/>
                  <a:gd name="connsiteY3" fmla="*/ 37287 h 372869"/>
                  <a:gd name="connsiteX4" fmla="*/ 1399669 w 1399669"/>
                  <a:gd name="connsiteY4" fmla="*/ 335582 h 372869"/>
                  <a:gd name="connsiteX5" fmla="*/ 1362382 w 1399669"/>
                  <a:gd name="connsiteY5" fmla="*/ 372869 h 372869"/>
                  <a:gd name="connsiteX6" fmla="*/ 37287 w 1399669"/>
                  <a:gd name="connsiteY6" fmla="*/ 372869 h 372869"/>
                  <a:gd name="connsiteX7" fmla="*/ 0 w 1399669"/>
                  <a:gd name="connsiteY7" fmla="*/ 335582 h 372869"/>
                  <a:gd name="connsiteX8" fmla="*/ 0 w 1399669"/>
                  <a:gd name="connsiteY8" fmla="*/ 37287 h 372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9669" h="372869">
                    <a:moveTo>
                      <a:pt x="0" y="37287"/>
                    </a:moveTo>
                    <a:cubicBezTo>
                      <a:pt x="0" y="16694"/>
                      <a:pt x="16694" y="0"/>
                      <a:pt x="37287" y="0"/>
                    </a:cubicBezTo>
                    <a:lnTo>
                      <a:pt x="1362382" y="0"/>
                    </a:lnTo>
                    <a:cubicBezTo>
                      <a:pt x="1382975" y="0"/>
                      <a:pt x="1399669" y="16694"/>
                      <a:pt x="1399669" y="37287"/>
                    </a:cubicBezTo>
                    <a:lnTo>
                      <a:pt x="1399669" y="335582"/>
                    </a:lnTo>
                    <a:cubicBezTo>
                      <a:pt x="1399669" y="356175"/>
                      <a:pt x="1382975" y="372869"/>
                      <a:pt x="1362382" y="372869"/>
                    </a:cubicBezTo>
                    <a:lnTo>
                      <a:pt x="37287" y="372869"/>
                    </a:lnTo>
                    <a:cubicBezTo>
                      <a:pt x="16694" y="372869"/>
                      <a:pt x="0" y="356175"/>
                      <a:pt x="0" y="335582"/>
                    </a:cubicBezTo>
                    <a:lnTo>
                      <a:pt x="0" y="37287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9971" tIns="29971" rIns="29971" bIns="29971" numCol="1" spcCol="1270" anchor="ctr" anchorCtr="0">
                <a:noAutofit/>
              </a:bodyPr>
              <a:lstStyle/>
              <a:p>
                <a:pPr marL="0" lvl="0" indent="0"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A/F Milling</a:t>
                </a: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7FB55BA-B441-F033-EC78-FA4B35A6F865}"/>
                  </a:ext>
                </a:extLst>
              </p:cNvPr>
              <p:cNvSpPr/>
              <p:nvPr/>
            </p:nvSpPr>
            <p:spPr>
              <a:xfrm rot="21051196">
                <a:off x="9011000" y="5652400"/>
                <a:ext cx="25852" cy="52266"/>
              </a:xfrm>
              <a:custGeom>
                <a:avLst/>
                <a:gdLst>
                  <a:gd name="connsiteX0" fmla="*/ 0 w 21614"/>
                  <a:gd name="connsiteY0" fmla="*/ 10071 h 50355"/>
                  <a:gd name="connsiteX1" fmla="*/ 10807 w 21614"/>
                  <a:gd name="connsiteY1" fmla="*/ 10071 h 50355"/>
                  <a:gd name="connsiteX2" fmla="*/ 10807 w 21614"/>
                  <a:gd name="connsiteY2" fmla="*/ 0 h 50355"/>
                  <a:gd name="connsiteX3" fmla="*/ 21614 w 21614"/>
                  <a:gd name="connsiteY3" fmla="*/ 25178 h 50355"/>
                  <a:gd name="connsiteX4" fmla="*/ 10807 w 21614"/>
                  <a:gd name="connsiteY4" fmla="*/ 50355 h 50355"/>
                  <a:gd name="connsiteX5" fmla="*/ 10807 w 21614"/>
                  <a:gd name="connsiteY5" fmla="*/ 40284 h 50355"/>
                  <a:gd name="connsiteX6" fmla="*/ 0 w 21614"/>
                  <a:gd name="connsiteY6" fmla="*/ 40284 h 50355"/>
                  <a:gd name="connsiteX7" fmla="*/ 0 w 21614"/>
                  <a:gd name="connsiteY7" fmla="*/ 10071 h 5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614" h="50355">
                    <a:moveTo>
                      <a:pt x="21613" y="40284"/>
                    </a:moveTo>
                    <a:lnTo>
                      <a:pt x="10807" y="40284"/>
                    </a:lnTo>
                    <a:lnTo>
                      <a:pt x="10807" y="50355"/>
                    </a:lnTo>
                    <a:lnTo>
                      <a:pt x="1" y="25177"/>
                    </a:lnTo>
                    <a:lnTo>
                      <a:pt x="10807" y="0"/>
                    </a:lnTo>
                    <a:lnTo>
                      <a:pt x="10807" y="10071"/>
                    </a:lnTo>
                    <a:lnTo>
                      <a:pt x="21613" y="10071"/>
                    </a:lnTo>
                    <a:lnTo>
                      <a:pt x="21613" y="40284"/>
                    </a:lnTo>
                    <a:close/>
                  </a:path>
                </a:pathLst>
              </a:cu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484" tIns="10071" rIns="0" bIns="10070" numCol="1" spcCol="1270" anchor="ctr" anchorCtr="0">
                <a:noAutofit/>
              </a:bodyPr>
              <a:lstStyle/>
              <a:p>
                <a:pPr marL="0" lvl="0" indent="0" algn="ctr" defTabSz="177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00" kern="12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0718858-10B3-4A22-0324-9E9976187C67}"/>
                  </a:ext>
                </a:extLst>
              </p:cNvPr>
              <p:cNvSpPr/>
              <p:nvPr/>
            </p:nvSpPr>
            <p:spPr>
              <a:xfrm>
                <a:off x="9057194" y="2136105"/>
                <a:ext cx="1803600" cy="1170000"/>
              </a:xfrm>
              <a:custGeom>
                <a:avLst/>
                <a:gdLst>
                  <a:gd name="connsiteX0" fmla="*/ 0 w 779894"/>
                  <a:gd name="connsiteY0" fmla="*/ 51688 h 516881"/>
                  <a:gd name="connsiteX1" fmla="*/ 51688 w 779894"/>
                  <a:gd name="connsiteY1" fmla="*/ 0 h 516881"/>
                  <a:gd name="connsiteX2" fmla="*/ 728206 w 779894"/>
                  <a:gd name="connsiteY2" fmla="*/ 0 h 516881"/>
                  <a:gd name="connsiteX3" fmla="*/ 779894 w 779894"/>
                  <a:gd name="connsiteY3" fmla="*/ 51688 h 516881"/>
                  <a:gd name="connsiteX4" fmla="*/ 779894 w 779894"/>
                  <a:gd name="connsiteY4" fmla="*/ 465193 h 516881"/>
                  <a:gd name="connsiteX5" fmla="*/ 728206 w 779894"/>
                  <a:gd name="connsiteY5" fmla="*/ 516881 h 516881"/>
                  <a:gd name="connsiteX6" fmla="*/ 51688 w 779894"/>
                  <a:gd name="connsiteY6" fmla="*/ 516881 h 516881"/>
                  <a:gd name="connsiteX7" fmla="*/ 0 w 779894"/>
                  <a:gd name="connsiteY7" fmla="*/ 465193 h 516881"/>
                  <a:gd name="connsiteX8" fmla="*/ 0 w 779894"/>
                  <a:gd name="connsiteY8" fmla="*/ 51688 h 516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79894" h="516881">
                    <a:moveTo>
                      <a:pt x="0" y="51688"/>
                    </a:moveTo>
                    <a:cubicBezTo>
                      <a:pt x="0" y="23142"/>
                      <a:pt x="23142" y="0"/>
                      <a:pt x="51688" y="0"/>
                    </a:cubicBezTo>
                    <a:lnTo>
                      <a:pt x="728206" y="0"/>
                    </a:lnTo>
                    <a:cubicBezTo>
                      <a:pt x="756752" y="0"/>
                      <a:pt x="779894" y="23142"/>
                      <a:pt x="779894" y="51688"/>
                    </a:cubicBezTo>
                    <a:lnTo>
                      <a:pt x="779894" y="465193"/>
                    </a:lnTo>
                    <a:cubicBezTo>
                      <a:pt x="779894" y="493739"/>
                      <a:pt x="756752" y="516881"/>
                      <a:pt x="728206" y="516881"/>
                    </a:cubicBezTo>
                    <a:lnTo>
                      <a:pt x="51688" y="516881"/>
                    </a:lnTo>
                    <a:cubicBezTo>
                      <a:pt x="23142" y="516881"/>
                      <a:pt x="0" y="493739"/>
                      <a:pt x="0" y="465193"/>
                    </a:cubicBezTo>
                    <a:lnTo>
                      <a:pt x="0" y="51688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4189" tIns="34189" rIns="34189" bIns="34189" numCol="1" spcCol="1270" anchor="ctr" anchorCtr="0">
                <a:noAutofit/>
              </a:bodyPr>
              <a:lstStyle/>
              <a:p>
                <a:pPr marL="0" lvl="0" indent="0"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LPW-ECM-LPW</a:t>
                </a: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9CD17F4-13CB-7A5B-BE56-B22AD5B79FF0}"/>
                  </a:ext>
                </a:extLst>
              </p:cNvPr>
              <p:cNvSpPr/>
              <p:nvPr/>
            </p:nvSpPr>
            <p:spPr>
              <a:xfrm>
                <a:off x="9057194" y="4763673"/>
                <a:ext cx="1803600" cy="1170000"/>
              </a:xfrm>
              <a:custGeom>
                <a:avLst/>
                <a:gdLst>
                  <a:gd name="connsiteX0" fmla="*/ 0 w 203046"/>
                  <a:gd name="connsiteY0" fmla="*/ 20305 h 549348"/>
                  <a:gd name="connsiteX1" fmla="*/ 20305 w 203046"/>
                  <a:gd name="connsiteY1" fmla="*/ 0 h 549348"/>
                  <a:gd name="connsiteX2" fmla="*/ 182741 w 203046"/>
                  <a:gd name="connsiteY2" fmla="*/ 0 h 549348"/>
                  <a:gd name="connsiteX3" fmla="*/ 203046 w 203046"/>
                  <a:gd name="connsiteY3" fmla="*/ 20305 h 549348"/>
                  <a:gd name="connsiteX4" fmla="*/ 203046 w 203046"/>
                  <a:gd name="connsiteY4" fmla="*/ 529043 h 549348"/>
                  <a:gd name="connsiteX5" fmla="*/ 182741 w 203046"/>
                  <a:gd name="connsiteY5" fmla="*/ 549348 h 549348"/>
                  <a:gd name="connsiteX6" fmla="*/ 20305 w 203046"/>
                  <a:gd name="connsiteY6" fmla="*/ 549348 h 549348"/>
                  <a:gd name="connsiteX7" fmla="*/ 0 w 203046"/>
                  <a:gd name="connsiteY7" fmla="*/ 529043 h 549348"/>
                  <a:gd name="connsiteX8" fmla="*/ 0 w 203046"/>
                  <a:gd name="connsiteY8" fmla="*/ 20305 h 549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046" h="549348">
                    <a:moveTo>
                      <a:pt x="0" y="20305"/>
                    </a:moveTo>
                    <a:cubicBezTo>
                      <a:pt x="0" y="9091"/>
                      <a:pt x="9091" y="0"/>
                      <a:pt x="20305" y="0"/>
                    </a:cubicBezTo>
                    <a:lnTo>
                      <a:pt x="182741" y="0"/>
                    </a:lnTo>
                    <a:cubicBezTo>
                      <a:pt x="193955" y="0"/>
                      <a:pt x="203046" y="9091"/>
                      <a:pt x="203046" y="20305"/>
                    </a:cubicBezTo>
                    <a:lnTo>
                      <a:pt x="203046" y="529043"/>
                    </a:lnTo>
                    <a:cubicBezTo>
                      <a:pt x="203046" y="540257"/>
                      <a:pt x="193955" y="549348"/>
                      <a:pt x="182741" y="549348"/>
                    </a:cubicBezTo>
                    <a:lnTo>
                      <a:pt x="20305" y="549348"/>
                    </a:lnTo>
                    <a:cubicBezTo>
                      <a:pt x="9091" y="549348"/>
                      <a:pt x="0" y="540257"/>
                      <a:pt x="0" y="529043"/>
                    </a:cubicBezTo>
                    <a:lnTo>
                      <a:pt x="0" y="20305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97" tIns="24997" rIns="24997" bIns="24997" numCol="1" spcCol="1270" anchor="ctr" anchorCtr="0">
                <a:noAutofit/>
              </a:bodyPr>
              <a:lstStyle/>
              <a:p>
                <a:pPr marL="0" lvl="0" indent="0"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Thermal Deburring</a:t>
                </a: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AA4C0E4-3F1A-D96B-FA72-84C109E33510}"/>
                  </a:ext>
                </a:extLst>
              </p:cNvPr>
              <p:cNvSpPr/>
              <p:nvPr/>
            </p:nvSpPr>
            <p:spPr>
              <a:xfrm>
                <a:off x="6620405" y="4763673"/>
                <a:ext cx="1803600" cy="1170000"/>
              </a:xfrm>
              <a:custGeom>
                <a:avLst/>
                <a:gdLst>
                  <a:gd name="connsiteX0" fmla="*/ 0 w 1036886"/>
                  <a:gd name="connsiteY0" fmla="*/ 64929 h 649285"/>
                  <a:gd name="connsiteX1" fmla="*/ 64929 w 1036886"/>
                  <a:gd name="connsiteY1" fmla="*/ 0 h 649285"/>
                  <a:gd name="connsiteX2" fmla="*/ 971958 w 1036886"/>
                  <a:gd name="connsiteY2" fmla="*/ 0 h 649285"/>
                  <a:gd name="connsiteX3" fmla="*/ 1036887 w 1036886"/>
                  <a:gd name="connsiteY3" fmla="*/ 64929 h 649285"/>
                  <a:gd name="connsiteX4" fmla="*/ 1036886 w 1036886"/>
                  <a:gd name="connsiteY4" fmla="*/ 584357 h 649285"/>
                  <a:gd name="connsiteX5" fmla="*/ 971957 w 1036886"/>
                  <a:gd name="connsiteY5" fmla="*/ 649286 h 649285"/>
                  <a:gd name="connsiteX6" fmla="*/ 64929 w 1036886"/>
                  <a:gd name="connsiteY6" fmla="*/ 649285 h 649285"/>
                  <a:gd name="connsiteX7" fmla="*/ 0 w 1036886"/>
                  <a:gd name="connsiteY7" fmla="*/ 584356 h 649285"/>
                  <a:gd name="connsiteX8" fmla="*/ 0 w 1036886"/>
                  <a:gd name="connsiteY8" fmla="*/ 64929 h 64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6886" h="649285">
                    <a:moveTo>
                      <a:pt x="0" y="64929"/>
                    </a:moveTo>
                    <a:cubicBezTo>
                      <a:pt x="0" y="29070"/>
                      <a:pt x="29070" y="0"/>
                      <a:pt x="64929" y="0"/>
                    </a:cubicBezTo>
                    <a:lnTo>
                      <a:pt x="971958" y="0"/>
                    </a:lnTo>
                    <a:cubicBezTo>
                      <a:pt x="1007817" y="0"/>
                      <a:pt x="1036887" y="29070"/>
                      <a:pt x="1036887" y="64929"/>
                    </a:cubicBezTo>
                    <a:cubicBezTo>
                      <a:pt x="1036887" y="238072"/>
                      <a:pt x="1036886" y="411214"/>
                      <a:pt x="1036886" y="584357"/>
                    </a:cubicBezTo>
                    <a:cubicBezTo>
                      <a:pt x="1036886" y="620216"/>
                      <a:pt x="1007816" y="649286"/>
                      <a:pt x="971957" y="649286"/>
                    </a:cubicBezTo>
                    <a:lnTo>
                      <a:pt x="64929" y="649285"/>
                    </a:lnTo>
                    <a:cubicBezTo>
                      <a:pt x="29070" y="649285"/>
                      <a:pt x="0" y="620215"/>
                      <a:pt x="0" y="584356"/>
                    </a:cubicBezTo>
                    <a:lnTo>
                      <a:pt x="0" y="64929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8067" tIns="38067" rIns="38067" bIns="38067" numCol="1" spcCol="1270" anchor="ctr" anchorCtr="0">
                <a:noAutofit/>
              </a:bodyPr>
              <a:lstStyle/>
              <a:p>
                <a:pPr marL="0" lvl="0" indent="0"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Phosphating</a:t>
                </a: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9A6C6F3-571D-44AC-9588-1007EC8E12FD}"/>
                  </a:ext>
                </a:extLst>
              </p:cNvPr>
              <p:cNvSpPr/>
              <p:nvPr/>
            </p:nvSpPr>
            <p:spPr>
              <a:xfrm>
                <a:off x="4233800" y="4763673"/>
                <a:ext cx="1803600" cy="1170000"/>
              </a:xfrm>
              <a:custGeom>
                <a:avLst/>
                <a:gdLst>
                  <a:gd name="connsiteX0" fmla="*/ 0 w 634654"/>
                  <a:gd name="connsiteY0" fmla="*/ 63465 h 984140"/>
                  <a:gd name="connsiteX1" fmla="*/ 63465 w 634654"/>
                  <a:gd name="connsiteY1" fmla="*/ 0 h 984140"/>
                  <a:gd name="connsiteX2" fmla="*/ 571189 w 634654"/>
                  <a:gd name="connsiteY2" fmla="*/ 0 h 984140"/>
                  <a:gd name="connsiteX3" fmla="*/ 634654 w 634654"/>
                  <a:gd name="connsiteY3" fmla="*/ 63465 h 984140"/>
                  <a:gd name="connsiteX4" fmla="*/ 634654 w 634654"/>
                  <a:gd name="connsiteY4" fmla="*/ 920675 h 984140"/>
                  <a:gd name="connsiteX5" fmla="*/ 571189 w 634654"/>
                  <a:gd name="connsiteY5" fmla="*/ 984140 h 984140"/>
                  <a:gd name="connsiteX6" fmla="*/ 63465 w 634654"/>
                  <a:gd name="connsiteY6" fmla="*/ 984140 h 984140"/>
                  <a:gd name="connsiteX7" fmla="*/ 0 w 634654"/>
                  <a:gd name="connsiteY7" fmla="*/ 920675 h 984140"/>
                  <a:gd name="connsiteX8" fmla="*/ 0 w 634654"/>
                  <a:gd name="connsiteY8" fmla="*/ 63465 h 984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4654" h="984140">
                    <a:moveTo>
                      <a:pt x="0" y="63465"/>
                    </a:moveTo>
                    <a:cubicBezTo>
                      <a:pt x="0" y="28414"/>
                      <a:pt x="28414" y="0"/>
                      <a:pt x="63465" y="0"/>
                    </a:cubicBezTo>
                    <a:lnTo>
                      <a:pt x="571189" y="0"/>
                    </a:lnTo>
                    <a:cubicBezTo>
                      <a:pt x="606240" y="0"/>
                      <a:pt x="634654" y="28414"/>
                      <a:pt x="634654" y="63465"/>
                    </a:cubicBezTo>
                    <a:lnTo>
                      <a:pt x="634654" y="920675"/>
                    </a:lnTo>
                    <a:cubicBezTo>
                      <a:pt x="634654" y="955726"/>
                      <a:pt x="606240" y="984140"/>
                      <a:pt x="571189" y="984140"/>
                    </a:cubicBezTo>
                    <a:lnTo>
                      <a:pt x="63465" y="984140"/>
                    </a:lnTo>
                    <a:cubicBezTo>
                      <a:pt x="28414" y="984140"/>
                      <a:pt x="0" y="955726"/>
                      <a:pt x="0" y="920675"/>
                    </a:cubicBezTo>
                    <a:lnTo>
                      <a:pt x="0" y="63465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7638" tIns="37638" rIns="37638" bIns="37638" numCol="1" spcCol="1270" anchor="ctr" anchorCtr="0">
                <a:noAutofit/>
              </a:bodyPr>
              <a:lstStyle/>
              <a:p>
                <a:pPr marL="0" lvl="0" indent="0"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Induction Hardening</a:t>
                </a: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2C0DAE57-89FC-9599-725D-ACBA90311E06}"/>
                  </a:ext>
                </a:extLst>
              </p:cNvPr>
              <p:cNvSpPr/>
              <p:nvPr/>
            </p:nvSpPr>
            <p:spPr>
              <a:xfrm>
                <a:off x="1835711" y="4763673"/>
                <a:ext cx="1803600" cy="1170000"/>
              </a:xfrm>
              <a:custGeom>
                <a:avLst/>
                <a:gdLst>
                  <a:gd name="connsiteX0" fmla="*/ 0 w 952713"/>
                  <a:gd name="connsiteY0" fmla="*/ 82123 h 821231"/>
                  <a:gd name="connsiteX1" fmla="*/ 82123 w 952713"/>
                  <a:gd name="connsiteY1" fmla="*/ 0 h 821231"/>
                  <a:gd name="connsiteX2" fmla="*/ 870590 w 952713"/>
                  <a:gd name="connsiteY2" fmla="*/ 0 h 821231"/>
                  <a:gd name="connsiteX3" fmla="*/ 952713 w 952713"/>
                  <a:gd name="connsiteY3" fmla="*/ 82123 h 821231"/>
                  <a:gd name="connsiteX4" fmla="*/ 952713 w 952713"/>
                  <a:gd name="connsiteY4" fmla="*/ 739108 h 821231"/>
                  <a:gd name="connsiteX5" fmla="*/ 870590 w 952713"/>
                  <a:gd name="connsiteY5" fmla="*/ 821231 h 821231"/>
                  <a:gd name="connsiteX6" fmla="*/ 82123 w 952713"/>
                  <a:gd name="connsiteY6" fmla="*/ 821231 h 821231"/>
                  <a:gd name="connsiteX7" fmla="*/ 0 w 952713"/>
                  <a:gd name="connsiteY7" fmla="*/ 739108 h 821231"/>
                  <a:gd name="connsiteX8" fmla="*/ 0 w 952713"/>
                  <a:gd name="connsiteY8" fmla="*/ 82123 h 821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2713" h="821231">
                    <a:moveTo>
                      <a:pt x="0" y="82123"/>
                    </a:moveTo>
                    <a:cubicBezTo>
                      <a:pt x="0" y="36768"/>
                      <a:pt x="36768" y="0"/>
                      <a:pt x="82123" y="0"/>
                    </a:cubicBezTo>
                    <a:lnTo>
                      <a:pt x="870590" y="0"/>
                    </a:lnTo>
                    <a:cubicBezTo>
                      <a:pt x="915945" y="0"/>
                      <a:pt x="952713" y="36768"/>
                      <a:pt x="952713" y="82123"/>
                    </a:cubicBezTo>
                    <a:lnTo>
                      <a:pt x="952713" y="739108"/>
                    </a:lnTo>
                    <a:cubicBezTo>
                      <a:pt x="952713" y="784463"/>
                      <a:pt x="915945" y="821231"/>
                      <a:pt x="870590" y="821231"/>
                    </a:cubicBezTo>
                    <a:lnTo>
                      <a:pt x="82123" y="821231"/>
                    </a:lnTo>
                    <a:cubicBezTo>
                      <a:pt x="36768" y="821231"/>
                      <a:pt x="0" y="784463"/>
                      <a:pt x="0" y="739108"/>
                    </a:cubicBezTo>
                    <a:lnTo>
                      <a:pt x="0" y="8212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3103" tIns="43103" rIns="43103" bIns="43103" numCol="1" spcCol="1270" anchor="ctr" anchorCtr="0">
                <a:noAutofit/>
              </a:bodyPr>
              <a:lstStyle/>
              <a:p>
                <a:pPr marL="0" lvl="0" indent="0" algn="ctr" defTabSz="222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Thread Brushing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D5E1191-C19C-0C6C-5717-16F38240ED66}"/>
                </a:ext>
              </a:extLst>
            </p:cNvPr>
            <p:cNvCxnSpPr>
              <a:cxnSpLocks/>
            </p:cNvCxnSpPr>
            <p:nvPr/>
          </p:nvCxnSpPr>
          <p:spPr>
            <a:xfrm>
              <a:off x="3621184" y="2721457"/>
              <a:ext cx="5380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6AE332A-5771-E71F-1B77-57DC42B6980E}"/>
                </a:ext>
              </a:extLst>
            </p:cNvPr>
            <p:cNvCxnSpPr>
              <a:cxnSpLocks/>
            </p:cNvCxnSpPr>
            <p:nvPr/>
          </p:nvCxnSpPr>
          <p:spPr>
            <a:xfrm>
              <a:off x="6013723" y="2696209"/>
              <a:ext cx="5380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0202F308-50E0-F589-E53A-C45422780745}"/>
                </a:ext>
              </a:extLst>
            </p:cNvPr>
            <p:cNvCxnSpPr>
              <a:cxnSpLocks/>
            </p:cNvCxnSpPr>
            <p:nvPr/>
          </p:nvCxnSpPr>
          <p:spPr>
            <a:xfrm>
              <a:off x="8265063" y="2721457"/>
              <a:ext cx="78084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57C56817-E025-4F68-FB5D-39D0F7DC8E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4789" y="5400719"/>
              <a:ext cx="7161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E0807CE8-CED1-FCBB-90C4-38E9694660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7518" y="5400719"/>
              <a:ext cx="5380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AD59058-9D8A-082C-7B9B-816C04F288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771" y="5400719"/>
              <a:ext cx="5380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04D82EFD-7131-F331-B6F8-50D2865384D5}"/>
                </a:ext>
              </a:extLst>
            </p:cNvPr>
            <p:cNvCxnSpPr>
              <a:cxnSpLocks/>
            </p:cNvCxnSpPr>
            <p:nvPr/>
          </p:nvCxnSpPr>
          <p:spPr>
            <a:xfrm>
              <a:off x="9986421" y="3281209"/>
              <a:ext cx="0" cy="1408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62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D1C5-5FB0-B455-5410-B2C01AA34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546"/>
          </a:xfrm>
        </p:spPr>
        <p:txBody>
          <a:bodyPr/>
          <a:lstStyle/>
          <a:p>
            <a:r>
              <a:rPr lang="en-IN" dirty="0"/>
              <a:t>Major Project –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8CD41-601F-1912-5ACB-2C1D83DC5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2"/>
            <a:ext cx="10515600" cy="469229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Shop Floor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Cycle (SFMC)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Background/Problem Statement:</a:t>
            </a:r>
          </a:p>
          <a:p>
            <a:pPr>
              <a:lnSpc>
                <a:spcPct val="170000"/>
              </a:lnSpc>
              <a:buFont typeface="Calibri" panose="020F0502020204030204" pitchFamily="34" charset="0"/>
              <a:buChar char="→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KPI Tracking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Key Performance Indicators (KPI) such as OEE, rejection rate, and cycle time were not being effectively monitored and reviewed at regular intervals.</a:t>
            </a:r>
          </a:p>
          <a:p>
            <a:pPr>
              <a:lnSpc>
                <a:spcPct val="170000"/>
              </a:lnSpc>
              <a:buFont typeface="Calibri" panose="020F0502020204030204" pitchFamily="34" charset="0"/>
              <a:buChar char="→"/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Visibility &amp; Accountability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 clear SFMC structure, roles and responsibilities on the shop floor were unclear, resulting in low accountability for daily performance.</a:t>
            </a:r>
          </a:p>
          <a:p>
            <a:pPr>
              <a:lnSpc>
                <a:spcPct val="170000"/>
              </a:lnSpc>
              <a:buFont typeface="Calibri" panose="020F0502020204030204" pitchFamily="34" charset="0"/>
              <a:buChar char="→"/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Escalation &amp; Problem-Solving: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on the shop floor were often escalated late due to the absence of tiered meetings and review cycles, leading to production losses.</a:t>
            </a:r>
          </a:p>
          <a:p>
            <a:pPr>
              <a:lnSpc>
                <a:spcPct val="17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Maximum optimization of Bottleneck Processes.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06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7B09-5C68-6265-31CC-CC2F85F64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47114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03BF21-8899-E1AE-0352-5420814AFAEC}"/>
              </a:ext>
            </a:extLst>
          </p:cNvPr>
          <p:cNvSpPr/>
          <p:nvPr/>
        </p:nvSpPr>
        <p:spPr>
          <a:xfrm>
            <a:off x="1398814" y="1114425"/>
            <a:ext cx="1787979" cy="13636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PDCA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FF6A78-1E89-3CAD-D60E-A91CEC14B4AF}"/>
              </a:ext>
            </a:extLst>
          </p:cNvPr>
          <p:cNvSpPr/>
          <p:nvPr/>
        </p:nvSpPr>
        <p:spPr>
          <a:xfrm>
            <a:off x="5339442" y="1219200"/>
            <a:ext cx="1789200" cy="1258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Takt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399951-F4B6-9299-4E6D-C0CC4057E65D}"/>
              </a:ext>
            </a:extLst>
          </p:cNvPr>
          <p:cNvSpPr/>
          <p:nvPr/>
        </p:nvSpPr>
        <p:spPr>
          <a:xfrm>
            <a:off x="8801100" y="1219201"/>
            <a:ext cx="1789200" cy="1258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Monitoring Sheet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F7340C-B13A-C78A-3D5F-19AE71E19C23}"/>
              </a:ext>
            </a:extLst>
          </p:cNvPr>
          <p:cNvSpPr/>
          <p:nvPr/>
        </p:nvSpPr>
        <p:spPr>
          <a:xfrm>
            <a:off x="1398814" y="3091743"/>
            <a:ext cx="1787978" cy="1515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PSS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(Problem Solving Sheet)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7B512A-34A1-CB8E-6B3A-79C580B11E22}"/>
              </a:ext>
            </a:extLst>
          </p:cNvPr>
          <p:cNvSpPr/>
          <p:nvPr/>
        </p:nvSpPr>
        <p:spPr>
          <a:xfrm>
            <a:off x="8801100" y="3407915"/>
            <a:ext cx="17892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OEE Tracking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3BD7AD-EEF2-05B4-9505-9BAD9ED85DBA}"/>
              </a:ext>
            </a:extLst>
          </p:cNvPr>
          <p:cNvSpPr/>
          <p:nvPr/>
        </p:nvSpPr>
        <p:spPr>
          <a:xfrm>
            <a:off x="1398815" y="5421086"/>
            <a:ext cx="1787978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F6659F-C904-49D1-87D0-26E50E3E039F}"/>
              </a:ext>
            </a:extLst>
          </p:cNvPr>
          <p:cNvSpPr/>
          <p:nvPr/>
        </p:nvSpPr>
        <p:spPr>
          <a:xfrm>
            <a:off x="5339442" y="5421086"/>
            <a:ext cx="17892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E2AA37-6EA2-941F-7417-2D533A916892}"/>
              </a:ext>
            </a:extLst>
          </p:cNvPr>
          <p:cNvSpPr/>
          <p:nvPr/>
        </p:nvSpPr>
        <p:spPr>
          <a:xfrm>
            <a:off x="8801100" y="5421086"/>
            <a:ext cx="17892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Pareto Analysis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69B2D2-4C11-B267-7C75-589F6AE7443A}"/>
              </a:ext>
            </a:extLst>
          </p:cNvPr>
          <p:cNvSpPr/>
          <p:nvPr/>
        </p:nvSpPr>
        <p:spPr>
          <a:xfrm>
            <a:off x="4710042" y="2831648"/>
            <a:ext cx="3048000" cy="20356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SFMC Cycle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9184E4-B23B-69A8-1002-C2625F7BA430}"/>
              </a:ext>
            </a:extLst>
          </p:cNvPr>
          <p:cNvCxnSpPr>
            <a:cxnSpLocks/>
          </p:cNvCxnSpPr>
          <p:nvPr/>
        </p:nvCxnSpPr>
        <p:spPr>
          <a:xfrm rot="60000" flipH="1" flipV="1">
            <a:off x="3251121" y="2478086"/>
            <a:ext cx="1905290" cy="651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1B38AF-CC84-7171-290E-D14F76418A59}"/>
              </a:ext>
            </a:extLst>
          </p:cNvPr>
          <p:cNvCxnSpPr>
            <a:cxnSpLocks/>
            <a:stCxn id="16" idx="0"/>
            <a:endCxn id="8" idx="2"/>
          </p:cNvCxnSpPr>
          <p:nvPr/>
        </p:nvCxnSpPr>
        <p:spPr>
          <a:xfrm flipV="1">
            <a:off x="6234042" y="2478086"/>
            <a:ext cx="0" cy="353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485D55-18F4-070C-954B-7BFD0BB85414}"/>
              </a:ext>
            </a:extLst>
          </p:cNvPr>
          <p:cNvCxnSpPr>
            <a:cxnSpLocks/>
            <a:stCxn id="16" idx="7"/>
          </p:cNvCxnSpPr>
          <p:nvPr/>
        </p:nvCxnSpPr>
        <p:spPr>
          <a:xfrm flipV="1">
            <a:off x="7311673" y="2478086"/>
            <a:ext cx="1489427" cy="651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BC1D96F-0C10-9476-AFA4-93A0C337CEF9}"/>
              </a:ext>
            </a:extLst>
          </p:cNvPr>
          <p:cNvCxnSpPr>
            <a:cxnSpLocks/>
            <a:stCxn id="16" idx="6"/>
            <a:endCxn id="12" idx="1"/>
          </p:cNvCxnSpPr>
          <p:nvPr/>
        </p:nvCxnSpPr>
        <p:spPr>
          <a:xfrm>
            <a:off x="7758042" y="3849461"/>
            <a:ext cx="1043058" cy="44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B32E9AE-73F8-1179-73DB-02E811716054}"/>
              </a:ext>
            </a:extLst>
          </p:cNvPr>
          <p:cNvCxnSpPr>
            <a:cxnSpLocks/>
            <a:stCxn id="16" idx="5"/>
          </p:cNvCxnSpPr>
          <p:nvPr/>
        </p:nvCxnSpPr>
        <p:spPr>
          <a:xfrm>
            <a:off x="7311673" y="4569163"/>
            <a:ext cx="1489427" cy="75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A32F114-3A92-7C09-592E-4189F24C8219}"/>
              </a:ext>
            </a:extLst>
          </p:cNvPr>
          <p:cNvCxnSpPr>
            <a:cxnSpLocks/>
            <a:stCxn id="16" idx="2"/>
          </p:cNvCxnSpPr>
          <p:nvPr/>
        </p:nvCxnSpPr>
        <p:spPr>
          <a:xfrm flipH="1" flipV="1">
            <a:off x="3268407" y="3835057"/>
            <a:ext cx="1441635" cy="14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EEDB26-8109-4AE9-2952-3BDB0EC980B1}"/>
              </a:ext>
            </a:extLst>
          </p:cNvPr>
          <p:cNvCxnSpPr>
            <a:cxnSpLocks/>
            <a:stCxn id="16" idx="4"/>
            <a:endCxn id="14" idx="0"/>
          </p:cNvCxnSpPr>
          <p:nvPr/>
        </p:nvCxnSpPr>
        <p:spPr>
          <a:xfrm>
            <a:off x="6234042" y="4867273"/>
            <a:ext cx="0" cy="553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1A71F93-5E4F-EE02-9364-6453088D25C5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3205842" y="4569163"/>
            <a:ext cx="1950569" cy="755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647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0CBFF-99B0-6B88-C643-08C1CAA36C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7747" y="477078"/>
                <a:ext cx="5049079" cy="602311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OEE (Overall Equipment Efficiency):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IN" sz="18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𝑂𝐸𝐸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𝐴𝑐𝑡𝑢𝑎𝑙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𝑄𝑢𝑎𝑛𝑡𝑖𝑡𝑦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𝐴𝑐h𝑒𝑖𝑣𝑒𝑑</m:t>
                          </m:r>
                        </m:num>
                        <m:den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𝑇𝑎𝑟𝑔𝑒𝑡</m:t>
                          </m:r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Types of Losses: 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Quality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Organizational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Technical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Change-over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Performance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0CBFF-99B0-6B88-C643-08C1CAA36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747" y="477078"/>
                <a:ext cx="5049079" cy="6023113"/>
              </a:xfrm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90DD6E-67C2-7BE0-A17B-364B96176342}"/>
              </a:ext>
            </a:extLst>
          </p:cNvPr>
          <p:cNvSpPr/>
          <p:nvPr/>
        </p:nvSpPr>
        <p:spPr>
          <a:xfrm>
            <a:off x="2425148" y="3776870"/>
            <a:ext cx="477078" cy="2107094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497B8-4CD8-90CC-FAAE-C4FE5AE1FCE8}"/>
              </a:ext>
            </a:extLst>
          </p:cNvPr>
          <p:cNvSpPr txBox="1"/>
          <p:nvPr/>
        </p:nvSpPr>
        <p:spPr>
          <a:xfrm>
            <a:off x="3031435" y="4476474"/>
            <a:ext cx="1172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Pareto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70041-EFA3-0F1E-E6A1-870F61F6E078}"/>
              </a:ext>
            </a:extLst>
          </p:cNvPr>
          <p:cNvSpPr txBox="1"/>
          <p:nvPr/>
        </p:nvSpPr>
        <p:spPr>
          <a:xfrm>
            <a:off x="6096000" y="1333428"/>
            <a:ext cx="481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Takt time chart: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0F2E5C1-66CC-D2F5-EEB3-D9A453A3A7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9987404"/>
              </p:ext>
            </p:extLst>
          </p:nvPr>
        </p:nvGraphicFramePr>
        <p:xfrm>
          <a:off x="6096001" y="1333428"/>
          <a:ext cx="5728252" cy="3713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5467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71AD21-2EC1-C611-E7FC-493A23E8F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7" t="11236" r="9468" b="6249"/>
          <a:stretch>
            <a:fillRect/>
          </a:stretch>
        </p:blipFill>
        <p:spPr>
          <a:xfrm>
            <a:off x="1750143" y="680736"/>
            <a:ext cx="8190271" cy="5496528"/>
          </a:xfrm>
        </p:spPr>
      </p:pic>
    </p:spTree>
    <p:extLst>
      <p:ext uri="{BB962C8B-B14F-4D97-AF65-F5344CB8AC3E}">
        <p14:creationId xmlns:p14="http://schemas.microsoft.com/office/powerpoint/2010/main" val="1072321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91D3-4F17-F27B-67E8-0C2F2C64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073BD7E-18ED-DE01-6F08-8E19BD046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0321" y="406126"/>
            <a:ext cx="8676861" cy="5744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B3722B-DA27-94BE-FCAB-F9892F34429C}"/>
              </a:ext>
            </a:extLst>
          </p:cNvPr>
          <p:cNvSpPr txBox="1"/>
          <p:nvPr/>
        </p:nvSpPr>
        <p:spPr>
          <a:xfrm>
            <a:off x="5213771" y="6267208"/>
            <a:ext cx="1764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/>
              <a:t>Actual SFMC Board</a:t>
            </a:r>
          </a:p>
        </p:txBody>
      </p:sp>
    </p:spTree>
    <p:extLst>
      <p:ext uri="{BB962C8B-B14F-4D97-AF65-F5344CB8AC3E}">
        <p14:creationId xmlns:p14="http://schemas.microsoft.com/office/powerpoint/2010/main" val="1881322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0BE2-C40E-43B7-524E-0458F7B76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Autofit/>
          </a:bodyPr>
          <a:lstStyle/>
          <a:p>
            <a:r>
              <a:rPr lang="en-IN" sz="4800" dirty="0"/>
              <a:t>Project Outcomes: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632EB-FF57-88CC-5132-DE0FF2EAB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770703" cy="345881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thorough investigation of the bottlenecks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wise Performance Parameters understanding.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POV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quantity got achieved due to effective use of visualization tools.(like Graphs which shows daily progress, daily meetings, etc.)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target quantity was achievable with less difficulties, management and planning authorities were able to plan for bigger target in quantity.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POV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Effectiveness in process flow and overall performance as Pareto analysis has been done.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Unnecessary scrap quantity reduced.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to company:  Cost saving, efficiency improvement, more effective utilization of resources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2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6C1B-D756-E457-3A43-98663DB2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Project(1)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98B328-EFFC-6D90-07B1-0DA8D9712D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9"/>
            <a:ext cx="591918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Inspectio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of trial parts for type 437.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meet all the customer needs and requirements.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A/F Height match check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 height check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successful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200%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Result/Impact: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saving, IDC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Repair and Rework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Precision 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Handelling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697443-5884-745C-281C-C9E78D216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3" t="66945" r="42500" b="23055"/>
          <a:stretch>
            <a:fillRect/>
          </a:stretch>
        </p:blipFill>
        <p:spPr>
          <a:xfrm>
            <a:off x="7041694" y="2689430"/>
            <a:ext cx="4978017" cy="151230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D6E2FA-E578-C21F-3D4D-438EA8BC7CB8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9131116" y="3332702"/>
            <a:ext cx="0" cy="18194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F5EA50E-068E-51CB-2651-AF63BAE68D3D}"/>
              </a:ext>
            </a:extLst>
          </p:cNvPr>
          <p:cNvSpPr txBox="1"/>
          <p:nvPr/>
        </p:nvSpPr>
        <p:spPr>
          <a:xfrm>
            <a:off x="7993625" y="5152103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A/F Milling Operation</a:t>
            </a:r>
          </a:p>
        </p:txBody>
      </p:sp>
    </p:spTree>
    <p:extLst>
      <p:ext uri="{BB962C8B-B14F-4D97-AF65-F5344CB8AC3E}">
        <p14:creationId xmlns:p14="http://schemas.microsoft.com/office/powerpoint/2010/main" val="4058810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F0F88-1B6F-25A9-6331-9C3A303D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Project(2):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59C01-58EF-0D9F-8CB2-A109764B2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3099521"/>
          </a:xfrm>
        </p:spPr>
        <p:txBody>
          <a:bodyPr/>
          <a:lstStyle/>
          <a:p>
            <a:r>
              <a:rPr lang="en-US" sz="2400" b="1" u="sng" dirty="0"/>
              <a:t>Detailed Scrap Tracking Analysis: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Monitoring the machine wise record for no. of scrapped parts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Segregating the part according to defect, the part have been scrapped.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Doing Decision making for machine for effective changes and avoiding further scrap.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149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4585-DC9D-28E7-C231-AE816D7C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BDA07-B7B1-4146-48DA-34B2E2D63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implemented a structured </a:t>
            </a:r>
            <a:r>
              <a:rPr lang="en-US" b="1" dirty="0"/>
              <a:t>Shop Floor Management Cycle (SFMC)</a:t>
            </a:r>
            <a:r>
              <a:rPr lang="en-US" dirty="0"/>
              <a:t> in the Body Department (MFC2)</a:t>
            </a:r>
          </a:p>
          <a:p>
            <a:r>
              <a:rPr lang="en-US" dirty="0"/>
              <a:t>Gained hands-on exposure to </a:t>
            </a:r>
            <a:r>
              <a:rPr lang="en-US" b="1" dirty="0"/>
              <a:t>real-time production monitoring and KPI management</a:t>
            </a:r>
          </a:p>
          <a:p>
            <a:r>
              <a:rPr lang="en-US" dirty="0"/>
              <a:t>Improved </a:t>
            </a:r>
            <a:r>
              <a:rPr lang="en-US" b="1" dirty="0"/>
              <a:t>visibility of production, quality, and downtime losses</a:t>
            </a:r>
            <a:r>
              <a:rPr lang="en-US" dirty="0"/>
              <a:t> through visual management tools</a:t>
            </a:r>
          </a:p>
          <a:p>
            <a:r>
              <a:rPr lang="en-US" dirty="0"/>
              <a:t>Applied </a:t>
            </a:r>
            <a:r>
              <a:rPr lang="en-US" b="1" dirty="0"/>
              <a:t>lean tools</a:t>
            </a:r>
            <a:r>
              <a:rPr lang="en-US" dirty="0"/>
              <a:t> such as OEE tracking, Pareto analysis, PSS, OPL, and PDCA</a:t>
            </a:r>
          </a:p>
          <a:p>
            <a:r>
              <a:rPr lang="en-US" dirty="0"/>
              <a:t>Enhanced </a:t>
            </a:r>
            <a:r>
              <a:rPr lang="en-US" b="1" dirty="0"/>
              <a:t>communication, teamwork, and professional discipline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internship transformed theoretical knowledge into practical industrial competence through structured shop floor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5643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4520</TotalTime>
  <Words>861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Calibri</vt:lpstr>
      <vt:lpstr>Cambria Math</vt:lpstr>
      <vt:lpstr>Courier New</vt:lpstr>
      <vt:lpstr>Rockwell</vt:lpstr>
      <vt:lpstr>Rockwell Condensed</vt:lpstr>
      <vt:lpstr>Times New Roman</vt:lpstr>
      <vt:lpstr>Wingdings</vt:lpstr>
      <vt:lpstr>Wood Type</vt:lpstr>
      <vt:lpstr>Problem Identification in Shop Floor Management Cycle (SFMC) at BOSCH Nashik Plant</vt:lpstr>
      <vt:lpstr>PowerPoint Presentation</vt:lpstr>
      <vt:lpstr>Introduction</vt:lpstr>
      <vt:lpstr>About the Company: </vt:lpstr>
      <vt:lpstr>About the Company: </vt:lpstr>
      <vt:lpstr>Internship Objectives:</vt:lpstr>
      <vt:lpstr>Tools being used so far:</vt:lpstr>
      <vt:lpstr>Process flow</vt:lpstr>
      <vt:lpstr>Major Project – Overview</vt:lpstr>
      <vt:lpstr>Layout:</vt:lpstr>
      <vt:lpstr>PowerPoint Presentation</vt:lpstr>
      <vt:lpstr>PowerPoint Presentation</vt:lpstr>
      <vt:lpstr>PowerPoint Presentation</vt:lpstr>
      <vt:lpstr>Project Outcomes:</vt:lpstr>
      <vt:lpstr>Minor Project(1)</vt:lpstr>
      <vt:lpstr>Minor Project(2): 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Pradyumna kulkarni</dc:creator>
  <cp:lastModifiedBy>Pradyumna kulkarni</cp:lastModifiedBy>
  <cp:revision>13</cp:revision>
  <dcterms:created xsi:type="dcterms:W3CDTF">2025-09-01T16:50:58Z</dcterms:created>
  <dcterms:modified xsi:type="dcterms:W3CDTF">2025-12-21T16:53:53Z</dcterms:modified>
</cp:coreProperties>
</file>